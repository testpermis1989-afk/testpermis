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622">
              <a:alpha val="7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1492300"/>
            <a:ext cx="2109639" cy="295275"/>
          </a:xfrm>
          <a:prstGeom prst="roundRect">
            <a:avLst>
              <a:gd name="adj" fmla="val 17204"/>
            </a:avLst>
          </a:prstGeom>
          <a:solidFill>
            <a:srgbClr val="C127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90600" y="1568500"/>
            <a:ext cx="16854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AUTO-ÉCOLES MAROC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62000" y="1939975"/>
            <a:ext cx="9906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 MAROC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62000" y="2635300"/>
            <a:ext cx="9906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00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solution complète de préparation</a:t>
            </a:r>
            <a:endParaRPr lang="en-US" sz="2000" dirty="0"/>
          </a:p>
          <a:p>
            <a:pPr algn="l" indent="0" marL="0">
              <a:spcAft>
                <a:spcPts val="2000"/>
              </a:spcAft>
              <a:buNone/>
            </a:pPr>
            <a:r>
              <a:rPr lang="en-US" sz="200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aux examens du permis de conduire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2000" y="3479750"/>
            <a:ext cx="7772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de bureau professionnelle pour les auto-écoles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304800"/>
            <a:ext cx="507950" cy="38100"/>
          </a:xfrm>
          <a:prstGeom prst="rect">
            <a:avLst/>
          </a:prstGeom>
          <a:solidFill>
            <a:srgbClr val="C127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495300"/>
            <a:ext cx="1023645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CONSTAT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4901" y="942975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défis des auto-écoles au Maroc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34901" y="1589633"/>
            <a:ext cx="3746599" cy="717352"/>
          </a:xfrm>
          <a:prstGeom prst="rect">
            <a:avLst/>
          </a:prstGeom>
          <a:solidFill>
            <a:srgbClr val="37DCF2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53951" y="1589633"/>
            <a:ext cx="0" cy="717352"/>
          </a:xfrm>
          <a:prstGeom prst="line">
            <a:avLst/>
          </a:prstGeom>
          <a:noFill/>
          <a:ln w="38100">
            <a:solidFill>
              <a:srgbClr val="37DC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702" y="1716584"/>
            <a:ext cx="342016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50702" y="2037159"/>
            <a:ext cx="34201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Taux d'échec moyen à l'examen théorique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4901" y="2408486"/>
            <a:ext cx="3746599" cy="717352"/>
          </a:xfrm>
          <a:prstGeom prst="rect">
            <a:avLst/>
          </a:prstGeom>
          <a:solidFill>
            <a:srgbClr val="37DCF2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53951" y="2408486"/>
            <a:ext cx="0" cy="717352"/>
          </a:xfrm>
          <a:prstGeom prst="line">
            <a:avLst/>
          </a:prstGeom>
          <a:noFill/>
          <a:ln w="38100">
            <a:solidFill>
              <a:srgbClr val="37DC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702" y="2535436"/>
            <a:ext cx="342016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+3h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50702" y="2856012"/>
            <a:ext cx="34201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préparation manuelle par candidat par semaine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4901" y="3227338"/>
            <a:ext cx="3746599" cy="717352"/>
          </a:xfrm>
          <a:prstGeom prst="rect">
            <a:avLst/>
          </a:prstGeom>
          <a:solidFill>
            <a:srgbClr val="37DCF2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53951" y="3227338"/>
            <a:ext cx="0" cy="717352"/>
          </a:xfrm>
          <a:prstGeom prst="line">
            <a:avLst/>
          </a:prstGeom>
          <a:noFill/>
          <a:ln w="38100">
            <a:solidFill>
              <a:srgbClr val="37DC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702" y="3354288"/>
            <a:ext cx="342016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50702" y="3674864"/>
            <a:ext cx="34201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Candidats qui changent d'auto-école après un échec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4901" y="4046190"/>
            <a:ext cx="3746599" cy="425351"/>
          </a:xfrm>
          <a:prstGeom prst="rect">
            <a:avLst/>
          </a:prstGeom>
          <a:solidFill>
            <a:srgbClr val="37DCF2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53951" y="4046190"/>
            <a:ext cx="0" cy="425351"/>
          </a:xfrm>
          <a:prstGeom prst="line">
            <a:avLst/>
          </a:prstGeom>
          <a:noFill/>
          <a:ln w="38100">
            <a:solidFill>
              <a:srgbClr val="37DC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702" y="4173141"/>
            <a:ext cx="34201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12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 Maroc résout ces problèmes</a:t>
            </a:r>
            <a:endParaRPr lang="en-US" sz="1200" dirty="0"/>
          </a:p>
        </p:txBody>
      </p:sp>
      <p:pic>
        <p:nvPicPr>
          <p:cNvPr id="20" name="Image 0" descr="/tmp/featur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4349" y="2033588"/>
            <a:ext cx="3682901" cy="2095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279350"/>
            <a:ext cx="507950" cy="38100"/>
          </a:xfrm>
          <a:prstGeom prst="rect">
            <a:avLst/>
          </a:prstGeom>
          <a:solidFill>
            <a:srgbClr val="C127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444401"/>
            <a:ext cx="1023645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FONCTIONNALITÉS CLÉS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847576"/>
            <a:ext cx="80316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ce dont votre auto-école a besoin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68772" y="1142851"/>
            <a:ext cx="2050852" cy="1190625"/>
          </a:xfrm>
          <a:prstGeom prst="roundRect">
            <a:avLst>
              <a:gd name="adj" fmla="val 853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505248" y="1304776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C1272D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505248" y="1285726"/>
            <a:ext cx="38862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 C 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5248" y="1761976"/>
            <a:ext cx="18134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Catégories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05248" y="1942951"/>
            <a:ext cx="18134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 A, B, C, D et E avec séries dédiées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546574" y="1142851"/>
            <a:ext cx="2050852" cy="1190625"/>
          </a:xfrm>
          <a:prstGeom prst="roundRect">
            <a:avLst>
              <a:gd name="adj" fmla="val 853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683050" y="1304776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C1272D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764012" y="1390501"/>
            <a:ext cx="2234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🔖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83050" y="1761976"/>
            <a:ext cx="18134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Multi-Séries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83050" y="1942951"/>
            <a:ext cx="18134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Importez vos séries de questions en ZIP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724376" y="1142851"/>
            <a:ext cx="2050852" cy="1190625"/>
          </a:xfrm>
          <a:prstGeom prst="roundRect">
            <a:avLst>
              <a:gd name="adj" fmla="val 853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860852" y="1304776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C1272D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941814" y="1390501"/>
            <a:ext cx="2234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860852" y="1761976"/>
            <a:ext cx="18134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Mélange Aléatoire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60852" y="1942951"/>
            <a:ext cx="18134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mélangées de toutes les séries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368772" y="2460427"/>
            <a:ext cx="2050852" cy="1190625"/>
          </a:xfrm>
          <a:prstGeom prst="roundRect">
            <a:avLst>
              <a:gd name="adj" fmla="val 853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505248" y="2622352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C1272D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624310" y="2708077"/>
            <a:ext cx="14573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05248" y="3079552"/>
            <a:ext cx="18134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Chronomètre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505248" y="3260527"/>
            <a:ext cx="18134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d'examen avec temps limité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546574" y="2460427"/>
            <a:ext cx="2050852" cy="1190625"/>
          </a:xfrm>
          <a:prstGeom prst="roundRect">
            <a:avLst>
              <a:gd name="adj" fmla="val 853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683050" y="2622352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C1272D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764012" y="2708077"/>
            <a:ext cx="2234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683050" y="3079552"/>
            <a:ext cx="18134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Multimédia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83050" y="3260527"/>
            <a:ext cx="18134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Images, audio et vidéo intégrés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724376" y="2460427"/>
            <a:ext cx="2050852" cy="1190625"/>
          </a:xfrm>
          <a:prstGeom prst="roundRect">
            <a:avLst>
              <a:gd name="adj" fmla="val 853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860852" y="2622352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C1272D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941814" y="2708077"/>
            <a:ext cx="2234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60852" y="3079552"/>
            <a:ext cx="18134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860852" y="3260527"/>
            <a:ext cx="18134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Voir les erreurs avec explications détaillées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457599" y="3778002"/>
            <a:ext cx="2050852" cy="1076325"/>
          </a:xfrm>
          <a:prstGeom prst="roundRect">
            <a:avLst>
              <a:gd name="adj" fmla="val 944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2594074" y="3939927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C1272D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675037" y="4025652"/>
            <a:ext cx="2234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2594074" y="4397127"/>
            <a:ext cx="18134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Multi-Utilisateurs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594074" y="4578102"/>
            <a:ext cx="18134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Comptes individuels avec photo et PIN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635401" y="3778002"/>
            <a:ext cx="2050852" cy="1076325"/>
          </a:xfrm>
          <a:prstGeom prst="roundRect">
            <a:avLst>
              <a:gd name="adj" fmla="val 944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771876" y="3939927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C1272D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852839" y="4025652"/>
            <a:ext cx="2234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771876" y="4397127"/>
            <a:ext cx="18134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Chiffrement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71876" y="4578102"/>
            <a:ext cx="18134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 AES-256 de vos données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355550"/>
            <a:ext cx="507950" cy="38100"/>
          </a:xfrm>
          <a:prstGeom prst="rect">
            <a:avLst/>
          </a:prstGeom>
          <a:solidFill>
            <a:srgbClr val="C127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546050"/>
            <a:ext cx="1023645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ÇA MARCHE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4901" y="968276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parcours candidat en 4 étapes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34901" y="1323826"/>
            <a:ext cx="1739950" cy="3464123"/>
          </a:xfrm>
          <a:prstGeom prst="roundRect">
            <a:avLst>
              <a:gd name="adj" fmla="val 7299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314301" y="1561951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C127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454252" y="1647676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3276" y="2069902"/>
            <a:ext cx="8031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Connexion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8472" y="2317552"/>
            <a:ext cx="139280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candidat se connecte avec son CIN, mot de passe et code PIN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79650" y="1323826"/>
            <a:ext cx="1739950" cy="3464123"/>
          </a:xfrm>
          <a:prstGeom prst="roundRect">
            <a:avLst>
              <a:gd name="adj" fmla="val 7299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59051" y="1561951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C127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99001" y="1647676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41460" y="2069902"/>
            <a:ext cx="10161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Choix du Test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53221" y="2317552"/>
            <a:ext cx="139280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Sélection de la catégorie, série ou mode mélange aléatoire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24400" y="1323826"/>
            <a:ext cx="1739950" cy="3464123"/>
          </a:xfrm>
          <a:prstGeom prst="roundRect">
            <a:avLst>
              <a:gd name="adj" fmla="val 7299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403800" y="1561951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C127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543751" y="1647676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96156" y="2069902"/>
            <a:ext cx="5962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Examen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7971" y="2317552"/>
            <a:ext cx="13928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chronométré avec images, audio et vidéo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69150" y="1323826"/>
            <a:ext cx="1739950" cy="3464123"/>
          </a:xfrm>
          <a:prstGeom prst="roundRect">
            <a:avLst>
              <a:gd name="adj" fmla="val 7299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448550" y="1561951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C127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588501" y="1647676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89140" y="2069902"/>
            <a:ext cx="6998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42720" y="2317552"/>
            <a:ext cx="13928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détaillé et correction complète des erreurs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355550"/>
            <a:ext cx="507950" cy="38100"/>
          </a:xfrm>
          <a:prstGeom prst="rect">
            <a:avLst/>
          </a:prstGeom>
          <a:solidFill>
            <a:srgbClr val="C127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546050"/>
            <a:ext cx="1023645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EXAMEN INTERACTIF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4901" y="968276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multimédias avancées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34901" y="1805136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37D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88802" y="1754386"/>
            <a:ext cx="26509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Haute Qualité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88802" y="1963936"/>
            <a:ext cx="26509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Panneaux de signalisation et situations de conduite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34901" y="2325737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37D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88802" y="2274987"/>
            <a:ext cx="23655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Audio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8802" y="2484537"/>
            <a:ext cx="23655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Écoutez et répondez avec contrôle du volume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34901" y="2846338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37D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88802" y="2795588"/>
            <a:ext cx="23982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Vidéos Intégrées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88802" y="3005138"/>
            <a:ext cx="23982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Situations de conduite en vidéo avec play/stop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4901" y="3366939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37D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88802" y="3316188"/>
            <a:ext cx="28062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Chronomètre Intelligent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8802" y="3525738"/>
            <a:ext cx="28062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 à rebours avec gestion automatique du temps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4901" y="3887539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37D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88802" y="3836789"/>
            <a:ext cx="31429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Correction Détaillée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88802" y="4046339"/>
            <a:ext cx="31429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Revue complète avec réponses correctes mises en évidence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145435" y="2074813"/>
            <a:ext cx="3320951" cy="1962150"/>
          </a:xfrm>
          <a:prstGeom prst="roundRect">
            <a:avLst>
              <a:gd name="adj" fmla="val 6472"/>
            </a:avLst>
          </a:prstGeom>
          <a:noFill/>
          <a:ln w="9525">
            <a:solidFill>
              <a:srgbClr val="37DC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0" descr="/tmp/featur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4960" y="2084338"/>
            <a:ext cx="3301901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355550"/>
            <a:ext cx="507950" cy="38100"/>
          </a:xfrm>
          <a:prstGeom prst="rect">
            <a:avLst/>
          </a:prstGeom>
          <a:solidFill>
            <a:srgbClr val="C127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546050"/>
            <a:ext cx="1023645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PANNEAU ADMINISTRATEUR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4901" y="968276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Gérez votre auto-école efficacement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41015" y="1820763"/>
            <a:ext cx="3194000" cy="2470100"/>
          </a:xfrm>
          <a:prstGeom prst="roundRect">
            <a:avLst>
              <a:gd name="adj" fmla="val 5141"/>
            </a:avLst>
          </a:prstGeom>
          <a:noFill/>
          <a:ln w="9525">
            <a:solidFill>
              <a:srgbClr val="37DC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/tmp/adm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540" y="1830288"/>
            <a:ext cx="3174950" cy="24129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345930" y="1865263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C1272D">
              <a:alpha val="15000"/>
            </a:srgbClr>
          </a:solidFill>
          <a:ln w="9525">
            <a:solidFill>
              <a:srgbClr val="C127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472434" y="1955750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12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96730" y="1865263"/>
            <a:ext cx="2382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de Séries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96730" y="2042964"/>
            <a:ext cx="23825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Glissez-déposez vos fichiers ZIP de questions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345930" y="2341513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C1272D">
              <a:alpha val="15000"/>
            </a:srgbClr>
          </a:solidFill>
          <a:ln w="9525">
            <a:solidFill>
              <a:srgbClr val="C127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472434" y="2432000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12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796730" y="2341513"/>
            <a:ext cx="27672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Compression Automatique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796730" y="2519214"/>
            <a:ext cx="27672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Images, audio et vidéo compressés automatiquement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345930" y="2817763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C1272D">
              <a:alpha val="15000"/>
            </a:srgbClr>
          </a:solidFill>
          <a:ln w="9525">
            <a:solidFill>
              <a:srgbClr val="C127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472434" y="2908250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12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796730" y="2817763"/>
            <a:ext cx="23265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Utilisateurs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796730" y="2995464"/>
            <a:ext cx="23265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Créez et gérez les comptes de vos candidats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345930" y="3294013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C1272D">
              <a:alpha val="15000"/>
            </a:srgbClr>
          </a:solidFill>
          <a:ln w="9525">
            <a:solidFill>
              <a:srgbClr val="C127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472434" y="3384500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12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796730" y="3294013"/>
            <a:ext cx="22787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des Séries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796730" y="3471714"/>
            <a:ext cx="22787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Visualisez, modifiez et supprimez vos séries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345930" y="3770263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C1272D">
              <a:alpha val="15000"/>
            </a:srgbClr>
          </a:solidFill>
          <a:ln w="9525">
            <a:solidFill>
              <a:srgbClr val="C127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472434" y="3860750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12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796730" y="3770263"/>
            <a:ext cx="31168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Réparation de Fichiers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796730" y="3947964"/>
            <a:ext cx="31168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Détectez et réparez les fichiers corrompus automatiquement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355550"/>
            <a:ext cx="507950" cy="38100"/>
          </a:xfrm>
          <a:prstGeom prst="rect">
            <a:avLst/>
          </a:prstGeom>
          <a:solidFill>
            <a:srgbClr val="C127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546050"/>
            <a:ext cx="1023645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AVANCÉE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4901" y="968276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 complète de votre contenu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34901" y="1925836"/>
            <a:ext cx="3784699" cy="1796504"/>
          </a:xfrm>
          <a:prstGeom prst="roundRect">
            <a:avLst>
              <a:gd name="adj" fmla="val 7069"/>
            </a:avLst>
          </a:prstGeom>
          <a:solidFill>
            <a:srgbClr val="C1272D">
              <a:alpha val="8000"/>
            </a:srgbClr>
          </a:solidFill>
          <a:ln w="9525">
            <a:solidFill>
              <a:srgbClr val="C127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96689" y="2192387"/>
            <a:ext cx="2623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30077" y="2173337"/>
            <a:ext cx="21817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Chiffrement AES-256-GCM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30077" y="2325737"/>
            <a:ext cx="21817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Tous les fichiers sont chiffrés sur le disque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96689" y="2649438"/>
            <a:ext cx="2623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30077" y="2630388"/>
            <a:ext cx="18333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Verrouillage Machine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30077" y="2782788"/>
            <a:ext cx="18333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Clé liée à l'ID unique de l'ordinateur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25264" y="3111252"/>
            <a:ext cx="20402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30077" y="3087439"/>
            <a:ext cx="25012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Anti-Copie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30077" y="3239839"/>
            <a:ext cx="25012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Impossible de copier les fichiers sur un autre PC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4901" y="3874740"/>
            <a:ext cx="38603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Vos questions restent votre propriété exclusive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4901" y="4042916"/>
            <a:ext cx="38603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Protection contre la concurrence déloyale</a:t>
            </a:r>
            <a:endParaRPr lang="en-US" sz="1000" dirty="0"/>
          </a:p>
        </p:txBody>
      </p:sp>
      <p:pic>
        <p:nvPicPr>
          <p:cNvPr id="17" name="Image 0" descr="/tmp/securit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3750" y="1912888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355550"/>
            <a:ext cx="507950" cy="38100"/>
          </a:xfrm>
          <a:prstGeom prst="rect">
            <a:avLst/>
          </a:prstGeom>
          <a:solidFill>
            <a:srgbClr val="C127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546050"/>
            <a:ext cx="1023645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AVANTAGES POUR VOTRE AUTO-ÉCOLE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4901" y="968276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choisir Permis Maroc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34901" y="1659136"/>
            <a:ext cx="406301" cy="406301"/>
          </a:xfrm>
          <a:prstGeom prst="roundRect">
            <a:avLst>
              <a:gd name="adj" fmla="val 18755"/>
            </a:avLst>
          </a:prstGeom>
          <a:solidFill>
            <a:srgbClr val="37DCF2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09464" y="1738461"/>
            <a:ext cx="2623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68152" y="1659136"/>
            <a:ext cx="22790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Augmentez votre taux de réussite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68152" y="1836837"/>
            <a:ext cx="22790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Préparation ciblée = meilleurs résultats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34901" y="2217837"/>
            <a:ext cx="406301" cy="406301"/>
          </a:xfrm>
          <a:prstGeom prst="roundRect">
            <a:avLst>
              <a:gd name="adj" fmla="val 18755"/>
            </a:avLst>
          </a:prstGeom>
          <a:solidFill>
            <a:srgbClr val="37DCF2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09464" y="2297162"/>
            <a:ext cx="2623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68152" y="2217837"/>
            <a:ext cx="22920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Faites-vous différencier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68152" y="2395538"/>
            <a:ext cx="22920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Offrez un outil professionnel à vos candidats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34901" y="2776538"/>
            <a:ext cx="406301" cy="406301"/>
          </a:xfrm>
          <a:prstGeom prst="roundRect">
            <a:avLst>
              <a:gd name="adj" fmla="val 18755"/>
            </a:avLst>
          </a:prstGeom>
          <a:solidFill>
            <a:srgbClr val="37DCF2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61851" y="2860625"/>
            <a:ext cx="15544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68152" y="2776538"/>
            <a:ext cx="19054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Gagnez du temps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68152" y="2954238"/>
            <a:ext cx="19054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Automatisez la préparation théorique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4901" y="3335238"/>
            <a:ext cx="406301" cy="406301"/>
          </a:xfrm>
          <a:prstGeom prst="roundRect">
            <a:avLst>
              <a:gd name="adj" fmla="val 18755"/>
            </a:avLst>
          </a:prstGeom>
          <a:solidFill>
            <a:srgbClr val="37DCF2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09464" y="3414564"/>
            <a:ext cx="2623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68152" y="3335238"/>
            <a:ext cx="19441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Fidélisez vos clients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68152" y="3512939"/>
            <a:ext cx="19441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Moins de départs vers la concurrence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4901" y="3893939"/>
            <a:ext cx="406301" cy="406301"/>
          </a:xfrm>
          <a:prstGeom prst="roundRect">
            <a:avLst>
              <a:gd name="adj" fmla="val 18755"/>
            </a:avLst>
          </a:prstGeom>
          <a:solidFill>
            <a:srgbClr val="37DCF2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09464" y="3973264"/>
            <a:ext cx="2623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68152" y="3893939"/>
            <a:ext cx="22518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Bureau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68152" y="4071640"/>
            <a:ext cx="22518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Fonctionne hors ligne, pas besoin d'internet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45435" y="1820763"/>
            <a:ext cx="3320951" cy="2470100"/>
          </a:xfrm>
          <a:prstGeom prst="roundRect">
            <a:avLst>
              <a:gd name="adj" fmla="val 5141"/>
            </a:avLst>
          </a:prstGeom>
          <a:noFill/>
          <a:ln w="9525">
            <a:solidFill>
              <a:srgbClr val="37DC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6" name="Image 0" descr="/tmp/benefi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4960" y="1830288"/>
            <a:ext cx="3301901" cy="24129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355550"/>
            <a:ext cx="507950" cy="38100"/>
          </a:xfrm>
          <a:prstGeom prst="rect">
            <a:avLst/>
          </a:prstGeom>
          <a:solidFill>
            <a:srgbClr val="C127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546050"/>
            <a:ext cx="1023645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4901" y="968276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offres adaptées à votre auto-école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1725811"/>
            <a:ext cx="2364284" cy="2634704"/>
          </a:xfrm>
          <a:prstGeom prst="roundRect">
            <a:avLst>
              <a:gd name="adj" fmla="val 5372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55286" y="1989237"/>
            <a:ext cx="197771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55286" y="2303562"/>
            <a:ext cx="197771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DH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55286" y="2763887"/>
            <a:ext cx="19777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mois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74675" y="3049637"/>
            <a:ext cx="1938933" cy="685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1 Poste de travail</a:t>
            </a:r>
            <a:endParaRPr lang="en-US" sz="900" dirty="0"/>
          </a:p>
          <a:p>
            <a:pPr algn="ctr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50 Candidats</a:t>
            </a:r>
            <a:endParaRPr lang="en-US" sz="900" dirty="0"/>
          </a:p>
          <a:p>
            <a:pPr algn="ctr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Mises à jour incluses</a:t>
            </a:r>
            <a:endParaRPr lang="en-US" sz="900" dirty="0"/>
          </a:p>
          <a:p>
            <a:pPr algn="ctr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Support prioritaire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0184" y="1725811"/>
            <a:ext cx="2383482" cy="2634704"/>
          </a:xfrm>
          <a:prstGeom prst="roundRect">
            <a:avLst>
              <a:gd name="adj" fmla="val 5328"/>
            </a:avLst>
          </a:prstGeom>
          <a:solidFill>
            <a:srgbClr val="37DCF2">
              <a:alpha val="5000"/>
            </a:srgbClr>
          </a:solidFill>
          <a:ln w="19050">
            <a:solidFill>
              <a:srgbClr val="37DC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148882" y="1998762"/>
            <a:ext cx="846088" cy="190500"/>
          </a:xfrm>
          <a:prstGeom prst="roundRect">
            <a:avLst>
              <a:gd name="adj" fmla="val 66667"/>
            </a:avLst>
          </a:prstGeom>
          <a:solidFill>
            <a:srgbClr val="37D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269910" y="2036862"/>
            <a:ext cx="6040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POPULAIRE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582994" y="2290763"/>
            <a:ext cx="19778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PROFESSIONNEL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82994" y="2605088"/>
            <a:ext cx="197786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DH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582994" y="3065413"/>
            <a:ext cx="19778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mois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02385" y="3351163"/>
            <a:ext cx="1939082" cy="685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3 Postes de travail</a:t>
            </a:r>
            <a:endParaRPr lang="en-US" sz="900" dirty="0"/>
          </a:p>
          <a:p>
            <a:pPr algn="ctr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200 Candidats</a:t>
            </a:r>
            <a:endParaRPr lang="en-US" sz="900" dirty="0"/>
          </a:p>
          <a:p>
            <a:pPr algn="ctr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Mises à jour incluses</a:t>
            </a:r>
            <a:endParaRPr lang="en-US" sz="900" dirty="0"/>
          </a:p>
          <a:p>
            <a:pPr algn="ctr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Support prioritaire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17568" y="1725811"/>
            <a:ext cx="2364432" cy="2634704"/>
          </a:xfrm>
          <a:prstGeom prst="roundRect">
            <a:avLst>
              <a:gd name="adj" fmla="val 5371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10852" y="1989237"/>
            <a:ext cx="19778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10852" y="2303562"/>
            <a:ext cx="197786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 DH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210852" y="2763887"/>
            <a:ext cx="19778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mois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30243" y="3049637"/>
            <a:ext cx="1939082" cy="685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Postes illimités</a:t>
            </a:r>
            <a:endParaRPr lang="en-US" sz="900" dirty="0"/>
          </a:p>
          <a:p>
            <a:pPr algn="ctr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Candidats illimités</a:t>
            </a:r>
            <a:endParaRPr lang="en-US" sz="900" dirty="0"/>
          </a:p>
          <a:p>
            <a:pPr algn="ctr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Mises à jour incluses</a:t>
            </a:r>
            <a:endParaRPr lang="en-US" sz="900" dirty="0"/>
          </a:p>
          <a:p>
            <a:pPr algn="ctr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Support + Formation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622">
              <a:alpha val="8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4320" y="1208187"/>
            <a:ext cx="859536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PRÊT À COMMENCER 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982365" y="1833563"/>
            <a:ext cx="51791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Contactez-nous dès maintenant pour une démonstration gratuite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913686" y="2119313"/>
            <a:ext cx="33166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votre auto-école et boostez votre taux de réussite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809875" y="2525613"/>
            <a:ext cx="3524101" cy="514350"/>
          </a:xfrm>
          <a:prstGeom prst="roundRect">
            <a:avLst>
              <a:gd name="adj" fmla="val 19753"/>
            </a:avLst>
          </a:prstGeom>
          <a:solidFill>
            <a:srgbClr val="C127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292743" y="2678013"/>
            <a:ext cx="25583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Demander une Démo Gratuite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469072" y="3293864"/>
            <a:ext cx="8487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Téléphone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26527" y="3474839"/>
            <a:ext cx="11338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+212 6XX-XXXXXX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8601" y="3293864"/>
            <a:ext cx="5466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Email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15405" y="3474839"/>
            <a:ext cx="15131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contact@permismaroc.ma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29831" y="3293864"/>
            <a:ext cx="84145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WhatsApp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83643" y="3474839"/>
            <a:ext cx="11338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+212 6XX-XXXXXX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62349" y="3820864"/>
            <a:ext cx="20191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buNone/>
            </a:pPr>
            <a:r>
              <a:rPr lang="en-US" sz="800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 Maroc © 2025 - Tous droits réservés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Permis Maroc - Presentation Auto-Ecoles</dc:title>
  <dc:subject>Solution de preparation aux examens du permis de conduire</dc:subject>
  <dc:creator>Permis Maroc</dc:creator>
  <cp:lastModifiedBy>Permis Maroc</cp:lastModifiedBy>
  <cp:revision>1</cp:revision>
  <dcterms:created xsi:type="dcterms:W3CDTF">2026-04-12T03:31:38Z</dcterms:created>
  <dcterms:modified xsi:type="dcterms:W3CDTF">2026-04-12T03:31:38Z</dcterms:modified>
</cp:coreProperties>
</file>